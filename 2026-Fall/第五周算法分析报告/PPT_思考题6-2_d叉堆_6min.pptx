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457432" cy="402336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24000" b="1" i="0">
                <a:solidFill>
                  <a:srgbClr val="F2F2F2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HNU</a:t>
            </a:r>
            <a:endParaRPr sz="24000" b="1" i="0">
              <a:solidFill>
                <a:srgbClr val="F2F2F2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</p:txBody>
      </p:sp>
      <p:pic>
        <p:nvPicPr>
          <p:cNvPr id="8" name="Picture 7" descr="logo_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608" y="932688"/>
            <a:ext cx="2459736" cy="886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544318"/>
            <a:ext cx="10360152" cy="14859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思考题 6-2</a:t>
            </a:r>
            <a:endParaRPr sz="4400" b="1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 d 叉堆的分析</a:t>
            </a:r>
            <a:endParaRPr sz="4000" b="1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360152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500" b="0" i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——   湖南大学计算机学院   ——</a:t>
            </a:r>
            <a:endParaRPr sz="1500" b="0" i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047488"/>
            <a:ext cx="10360152" cy="9144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《算法导论》（第 3 版）第 6 章 · 优先队列（6.5）· 思考题 6-2</a:t>
            </a:r>
            <a:endParaRPr sz="140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算法设计与分析 · 小班讨论</a:t>
            </a:r>
            <a:endParaRPr sz="140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讲解 A：及靖涵（202508100101）　讲解 B：宋自信（202508100107）</a:t>
            </a:r>
            <a:endParaRPr sz="130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51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背景与题目：把「2」换成「d」</a:t>
            </a:r>
            <a:endParaRPr sz="251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约 40 秒 · A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2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627632"/>
            <a:ext cx="5120640" cy="1965960"/>
          </a:xfrm>
          <a:prstGeom prst="roundRect">
            <a:avLst/>
          </a:prstGeom>
          <a:solidFill>
            <a:srgbClr val="F2F8EC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627632"/>
            <a:ext cx="77724" cy="1965960"/>
          </a:xfrm>
          <a:prstGeom prst="rect">
            <a:avLst/>
          </a:prstGeom>
          <a:solidFill>
            <a:srgbClr val="5382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5" y="1755648"/>
            <a:ext cx="4736592" cy="17465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53822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优先队列（急诊分诊台）</a:t>
            </a:r>
            <a:endParaRPr sz="1500" b="1" i="0">
              <a:solidFill>
                <a:srgbClr val="53822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谁最重（key 最大）谁先处理；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四个动作：插入 / 看最大 / 取最大 / 改大；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目标：每个动作尽量快（O(log n) 级）。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9360" y="1627632"/>
            <a:ext cx="5120640" cy="196596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27632"/>
            <a:ext cx="77724" cy="19659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755648"/>
            <a:ext cx="4736592" cy="17465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叉堆 = 二叉堆的推广</a:t>
            </a:r>
            <a:endParaRPr sz="1500" b="1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把「每个家长最多 2 个孩子」放宽成「最多 d 个」；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= 2 时就是二叉堆；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今天只改一个数，操作思路完全不变。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10607040" cy="4846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marL="330200" indent="-330200">
              <a:lnSpc>
                <a:spcPct val="142000"/>
              </a:lnSpc>
              <a:spcAft>
                <a:spcPts val="800"/>
              </a:spcAft>
            </a:pPr>
            <a:r>
              <a:rPr sz="142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55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题目（思考题 6-2）五问，核心只有一句：把「每个孩子数 2」换成「d」，还快不快？</a:t>
            </a:r>
            <a:endParaRPr sz="155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800"/>
              </a:spcAft>
            </a:pPr>
            <a:r>
              <a:rPr sz="129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4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(a) 怎么用数组存 d 叉堆？   (b) 它有多高（用 n, d 表示）？</a:t>
            </a:r>
            <a:endParaRPr sz="14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800"/>
              </a:spcAft>
            </a:pPr>
            <a:r>
              <a:rPr sz="129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4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(c)(d)(e) EXTRACT-MAX / INCREASE-KEY / INSERT 怎么高效做、复杂度多少？</a:t>
            </a:r>
            <a:endParaRPr sz="14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25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共同前提：能 O(1) 反查「对象 → 堆元素」的位置（代码里用 pos_ 兑现）。</a:t>
            </a:r>
            <a:endParaRPr sz="125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55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小题 (a)：用数组表示 d 叉堆</a:t>
            </a:r>
            <a:endParaRPr sz="255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约 45 秒 · A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3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645920"/>
            <a:ext cx="10607040" cy="1874519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764792"/>
            <a:ext cx="10277856" cy="1636775"/>
          </a:xfrm>
          <a:prstGeom prst="rect">
            <a:avLst/>
          </a:prstGeom>
          <a:noFill/>
        </p:spPr>
        <p:txBody>
          <a:bodyPr wrap="none" lIns="18288" tIns="0" rIns="18288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400" b="0" i="0">
                <a:solidFill>
                  <a:srgbClr val="53822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A[1..n] 按层序存放，A[0] 作哨兵；根 = A[1]</a:t>
            </a:r>
            <a:endParaRPr sz="1400" b="0" i="0">
              <a:solidFill>
                <a:srgbClr val="53822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CHILD(i, j)  = d * (i - 1) + j + 1     // 1&lt;=j&lt;=d</a:t>
            </a:r>
            <a:endParaRPr sz="140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PARENT(i)    = floor((i - 2) / d) + 1  // i &gt; 1</a:t>
            </a:r>
            <a:endParaRPr sz="140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400" b="0" i="0">
                <a:solidFill>
                  <a:srgbClr val="53822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退化检验：d = 2 时就是二叉堆</a:t>
            </a:r>
            <a:endParaRPr sz="1400" b="0" i="0">
              <a:solidFill>
                <a:srgbClr val="53822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400" b="0" i="0">
                <a:solidFill>
                  <a:srgbClr val="53822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  CHILD -&gt; 2i, 2i+1 ;  PARENT -&gt; floor(i/2)</a:t>
            </a:r>
            <a:endParaRPr sz="1400" b="0" i="0">
              <a:solidFill>
                <a:srgbClr val="53822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10607040" cy="4846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marL="330200" indent="-330200">
              <a:lnSpc>
                <a:spcPct val="142000"/>
              </a:lnSpc>
              <a:spcAft>
                <a:spcPts val="900"/>
              </a:spcAft>
            </a:pPr>
            <a:r>
              <a:rPr sz="147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60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记住规律就行，不用背：CHILD 算「第 j 个孩子在哪」，PARENT 算「爸爸是谁」。</a:t>
            </a:r>
            <a:endParaRPr sz="160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900"/>
              </a:spcAft>
            </a:pPr>
            <a:r>
              <a:rPr sz="133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4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本质就是「查家谱」——纯算术、O(1)，一个指针都不用；</a:t>
            </a:r>
            <a:endParaRPr sz="14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900"/>
              </a:spcAft>
            </a:pPr>
            <a:r>
              <a:rPr sz="133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4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= 2 时两个公式退化成你学过的 2i、⌊i/2⌋，和二叉堆一模一样。</a:t>
            </a:r>
            <a:endParaRPr sz="14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30200" indent="-330200">
              <a:lnSpc>
                <a:spcPct val="142000"/>
              </a:lnSpc>
              <a:spcAft>
                <a:spcPts val="900"/>
              </a:spcAft>
            </a:pPr>
            <a:r>
              <a:rPr sz="147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600" b="0" i="0">
                <a:solidFill>
                  <a:srgbClr val="53822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结论：d 叉堆还是「零额外空间」——谁是谁的爸妈，靠公式 O(1) 算出来。</a:t>
            </a:r>
            <a:endParaRPr sz="1600" b="0" i="0">
              <a:solidFill>
                <a:srgbClr val="53822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25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小题 (b)：堆高 h = Θ(log_d n)</a:t>
            </a:r>
            <a:endParaRPr sz="225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约 40 秒 · A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4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664208"/>
            <a:ext cx="6126480" cy="2331720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783080"/>
            <a:ext cx="5797296" cy="2093976"/>
          </a:xfrm>
          <a:prstGeom prst="rect">
            <a:avLst/>
          </a:prstGeom>
          <a:noFill/>
        </p:spPr>
        <p:txBody>
          <a:bodyPr wrap="none" lIns="18288" tIns="0" rIns="18288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53822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层序展开：第 0 层 1 个，第 1 层 d 个，第 2 层 d² 个 ……</a:t>
            </a:r>
            <a:endParaRPr sz="1350" b="0" i="0">
              <a:solidFill>
                <a:srgbClr val="53822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 + d + d^2 + ... + d^h  ≈  d^h   =  n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53822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反推层数：</a:t>
            </a:r>
            <a:endParaRPr sz="1350" b="0" i="0">
              <a:solidFill>
                <a:srgbClr val="53822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  ≈  log_d n  =  (ln n) / (ln d)   -&gt;   Θ(log_d n)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pic>
        <p:nvPicPr>
          <p:cNvPr id="14" name="Picture 13" descr="fig_1_h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953928"/>
            <a:ext cx="4572000" cy="276726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25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实测：n=10⁶ 时二叉堆高 19 层、4 叉堆 10 层、16 叉堆只要 5 层 —— d 越大树越矮，这是一切结论的起点。</a:t>
            </a:r>
            <a:endParaRPr sz="125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188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小题 (c)：EXTRACT-MAX  O(d·log_d n)</a:t>
            </a:r>
            <a:endParaRPr sz="188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约 45 秒 · B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5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645920"/>
            <a:ext cx="10607040" cy="2148840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764792"/>
            <a:ext cx="10277856" cy="1911095"/>
          </a:xfrm>
          <a:prstGeom prst="rect">
            <a:avLst/>
          </a:prstGeom>
          <a:noFill/>
        </p:spPr>
        <p:txBody>
          <a:bodyPr wrap="none" lIns="18288" tIns="0" rIns="18288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EXTRACT-MAX(A)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max = A[1];  A[1] = A[最后];  堆大小 -= 1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MAX-HEAPIFY(A, 1)            // 新根「下沉」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MAX-HEAPIFY(A, i)              // 每层比 d 个孩子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for j=1..d: 在 d 个孩子里挑最大的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不是最大: 交换, 继续下沉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4023360"/>
            <a:ext cx="10607040" cy="4846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marL="330200" indent="-330200">
              <a:lnSpc>
                <a:spcPct val="142000"/>
              </a:lnSpc>
              <a:spcAft>
                <a:spcPts val="800"/>
              </a:spcAft>
            </a:pPr>
            <a:r>
              <a:rPr sz="138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50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和二叉堆 MAX-HEAPIFY 一模一样 —— 只是原来比 2 个孩子，现在比 d 个。</a:t>
            </a:r>
            <a:endParaRPr sz="150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800"/>
              </a:spcAft>
            </a:pPr>
            <a:r>
              <a:rPr sz="124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下沉一层 → 在 d 个孩子里挑最大 → 每层做 d 次比较（每层成本 O(d)）；</a:t>
            </a:r>
            <a:endParaRPr sz="13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800"/>
              </a:spcAft>
            </a:pPr>
            <a:r>
              <a:rPr sz="124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最多下沉约 log_d n 层 → 乘起来 = O(d·log_d n)。比一比：d=3 时比较最少（d=2→37、d=3→35、d=4→38、d=8→51、d=16→77 次）。</a:t>
            </a:r>
            <a:endParaRPr sz="13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1485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小题 (d)(e)：INCREASE-KEY / INSERT  O(log_d n)</a:t>
            </a:r>
            <a:endParaRPr sz="1485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约 40 秒 · B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6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645920"/>
            <a:ext cx="5349240" cy="2286000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764792"/>
            <a:ext cx="5020055" cy="2048256"/>
          </a:xfrm>
          <a:prstGeom prst="rect">
            <a:avLst/>
          </a:prstGeom>
          <a:noFill/>
        </p:spPr>
        <p:txBody>
          <a:bodyPr wrap="none" lIns="18288" tIns="0" rIns="18288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INCREASE-KEY(A, i, key)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A[i].key = key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while i&gt;1 且 父.key &lt; A[i].key: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交换 A[i],A[父];  i = 父   // 只沿一条父链上浮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5349240" cy="2286000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764792"/>
            <a:ext cx="5020055" cy="2048256"/>
          </a:xfrm>
          <a:prstGeom prst="rect">
            <a:avLst/>
          </a:prstGeom>
          <a:noFill/>
        </p:spPr>
        <p:txBody>
          <a:bodyPr wrap="none" lIns="18288" tIns="0" rIns="18288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INSERT(A, key)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A[末尾].key = -inf        // 先挂末尾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INCREASE-KEY(A, 末尾, key) // 再上浮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4114800"/>
            <a:ext cx="10607040" cy="4846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marL="330200" indent="-330200">
              <a:lnSpc>
                <a:spcPct val="142000"/>
              </a:lnSpc>
              <a:spcAft>
                <a:spcPts val="900"/>
              </a:spcAft>
            </a:pPr>
            <a:r>
              <a:rPr sz="142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55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关键：上浮只跟「唯一的爸爸」比一次，每层 O(1)；路径 ≤ 堆高 log_d n。</a:t>
            </a:r>
            <a:endParaRPr sz="155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900"/>
              </a:spcAft>
            </a:pPr>
            <a:r>
              <a:rPr sz="129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4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所以 INCREASE-KEY 与 INSERT 都是 O(log_d n) —— 比 EXTRACT-MAX 还快；</a:t>
            </a:r>
            <a:endParaRPr sz="14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900"/>
              </a:spcAft>
            </a:pPr>
            <a:r>
              <a:rPr sz="129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4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不直接放根上：会打乱数组「完全树」排列，O(1) 找爸妈的前提就没了。</a:t>
            </a:r>
            <a:endParaRPr sz="14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60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一张表看懂所有复杂度</a:t>
            </a:r>
            <a:endParaRPr sz="260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约 35 秒 · B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7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7240" y="1783080"/>
            <a:ext cx="10972800" cy="4572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1865376"/>
            <a:ext cx="2148839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操作</a:t>
            </a:r>
            <a:endParaRPr sz="135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36976" y="1865376"/>
            <a:ext cx="301752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过程</a:t>
            </a:r>
            <a:endParaRPr sz="135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37376" y="1865376"/>
            <a:ext cx="164592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二叉堆 d=2</a:t>
            </a:r>
            <a:endParaRPr sz="135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66176" y="1865376"/>
            <a:ext cx="182880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叉堆</a:t>
            </a:r>
            <a:endParaRPr sz="135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77856" y="1865376"/>
            <a:ext cx="141732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谁更优</a:t>
            </a:r>
            <a:endParaRPr sz="135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77240" y="2295144"/>
            <a:ext cx="10972800" cy="566928"/>
          </a:xfrm>
          <a:prstGeom prst="rect">
            <a:avLst/>
          </a:prstGeom>
          <a:solidFill>
            <a:srgbClr val="FAF6F6"/>
          </a:solidFill>
          <a:ln w="12700">
            <a:solidFill>
              <a:srgbClr val="EE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2331720"/>
            <a:ext cx="2148839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BUILD-MAX-HEAP</a:t>
            </a:r>
            <a:endParaRPr sz="13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36976" y="2331720"/>
            <a:ext cx="30175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Floyd 自底向上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37376" y="2331720"/>
            <a:ext cx="16459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Θ(n)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66176" y="2331720"/>
            <a:ext cx="182880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Θ(n)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77856" y="2331720"/>
            <a:ext cx="14173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无关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77240" y="2862072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2898648"/>
            <a:ext cx="2148839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MAX-HEAPIFY</a:t>
            </a:r>
            <a:endParaRPr sz="13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36976" y="2898648"/>
            <a:ext cx="30175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每层比 d 个孩子后下沉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37376" y="2898648"/>
            <a:ext cx="16459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O(log n)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66176" y="2898648"/>
            <a:ext cx="182880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O(d log_d n)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77856" y="2898648"/>
            <a:ext cx="14173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小</a:t>
            </a:r>
            <a:endParaRPr sz="130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77240" y="3429000"/>
            <a:ext cx="10972800" cy="566928"/>
          </a:xfrm>
          <a:prstGeom prst="rect">
            <a:avLst/>
          </a:prstGeom>
          <a:solidFill>
            <a:srgbClr val="FAF6F6"/>
          </a:solidFill>
          <a:ln w="12700">
            <a:solidFill>
              <a:srgbClr val="EE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3465576"/>
            <a:ext cx="2148839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EXTRACT-MAX</a:t>
            </a:r>
            <a:endParaRPr sz="13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36976" y="3465576"/>
            <a:ext cx="30175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摘根 + 下沉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37376" y="3465576"/>
            <a:ext cx="16459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O(log n)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66176" y="3465576"/>
            <a:ext cx="182880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O(d log_d n)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277856" y="3465576"/>
            <a:ext cx="14173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= 3</a:t>
            </a:r>
            <a:endParaRPr sz="130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77240" y="3995928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4032504"/>
            <a:ext cx="2148839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INCREASE-KEY</a:t>
            </a:r>
            <a:endParaRPr sz="13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36976" y="4032504"/>
            <a:ext cx="30175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沿父链上浮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37376" y="4032504"/>
            <a:ext cx="16459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O(log n)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66176" y="4032504"/>
            <a:ext cx="182880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O(log_d n)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277856" y="4032504"/>
            <a:ext cx="14173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53822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大</a:t>
            </a:r>
            <a:endParaRPr sz="1300" b="0" i="0">
              <a:solidFill>
                <a:srgbClr val="53822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77240" y="4562856"/>
            <a:ext cx="10972800" cy="566928"/>
          </a:xfrm>
          <a:prstGeom prst="rect">
            <a:avLst/>
          </a:prstGeom>
          <a:solidFill>
            <a:srgbClr val="FAF6F6"/>
          </a:solidFill>
          <a:ln w="12700">
            <a:solidFill>
              <a:srgbClr val="EE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" y="4599432"/>
            <a:ext cx="2148839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INSERT</a:t>
            </a:r>
            <a:endParaRPr sz="13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236976" y="4599432"/>
            <a:ext cx="30175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尾部 −∞ + 上浮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37376" y="4599432"/>
            <a:ext cx="16459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O(log n)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266176" y="4599432"/>
            <a:ext cx="182880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O(log_d n)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77856" y="4599432"/>
            <a:ext cx="14173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53822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大</a:t>
            </a:r>
            <a:endParaRPr sz="1300" b="0" i="0">
              <a:solidFill>
                <a:srgbClr val="53822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77240" y="5129784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" y="5166360"/>
            <a:ext cx="2148839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堆高 h</a:t>
            </a:r>
            <a:endParaRPr sz="13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236976" y="5166360"/>
            <a:ext cx="30175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根到最深叶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37376" y="5166360"/>
            <a:ext cx="16459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Θ(log n)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66176" y="5166360"/>
            <a:ext cx="182880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Θ(log_d n)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277856" y="5166360"/>
            <a:ext cx="1417320" cy="49377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00" b="0" i="0">
                <a:solidFill>
                  <a:srgbClr val="53822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大</a:t>
            </a:r>
            <a:endParaRPr sz="1300" b="0" i="0">
              <a:solidFill>
                <a:srgbClr val="53822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25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一句话：d 叉堆 = 「拿每层更贵，换树更矮」—— 下沉类（每层 O(d)）随 d 增大变慢，上浮类（每层 O(1)）随 d 增大变快。</a:t>
            </a:r>
            <a:endParaRPr sz="125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51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07 实测与瓶颈：比较最少 ≠ 最快</a:t>
            </a:r>
            <a:endParaRPr sz="251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约 55 秒 · B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8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" name="Picture 11" descr="fig_5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34084"/>
            <a:ext cx="6675120" cy="26470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35240" y="1664208"/>
            <a:ext cx="3931920" cy="4846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marL="330200" indent="-330200">
              <a:lnSpc>
                <a:spcPct val="142000"/>
              </a:lnSpc>
              <a:spcAft>
                <a:spcPts val="1000"/>
              </a:spcAft>
            </a:pPr>
            <a:r>
              <a:rPr sz="133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45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比较次数：d=3 最少（37/35/38/51/77 次）。</a:t>
            </a:r>
            <a:endParaRPr sz="145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1000"/>
              </a:spcAft>
            </a:pPr>
            <a:r>
              <a:rPr sz="119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墙钟时间：最快的却是 d≈4~8（d=4 约 261ns，d=2 反而 352ns）。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30200" indent="-330200">
              <a:lnSpc>
                <a:spcPct val="142000"/>
              </a:lnSpc>
              <a:spcAft>
                <a:spcPts val="1000"/>
              </a:spcAft>
            </a:pPr>
            <a:r>
              <a:rPr sz="133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45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为什么「比得少」≠「跑得快」？主因是内存访问：</a:t>
            </a:r>
            <a:endParaRPr sz="1450" b="1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1000"/>
              </a:spcAft>
            </a:pPr>
            <a:r>
              <a:rPr sz="119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树越高，结点在内存里跳得越远，CPU 缓存越容易「没命中」；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1000"/>
              </a:spcAft>
            </a:pPr>
            <a:r>
              <a:rPr sz="119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d=2、n=10⁶ 时 19 层，几乎每层跨缓存 → 虽比得少却最慢；d=8 只有 7 层，还连取 8 个相邻孩子，缓存更友好。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60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08 改进与总结</a:t>
            </a:r>
            <a:endParaRPr sz="260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约 35 秒 · B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9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1664208"/>
            <a:ext cx="6400800" cy="4846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marL="330200" indent="-330200">
              <a:lnSpc>
                <a:spcPct val="142000"/>
              </a:lnSpc>
              <a:spcAft>
                <a:spcPts val="700"/>
              </a:spcAft>
            </a:pPr>
            <a:r>
              <a:rPr sz="138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5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工程层面（不改算法）：</a:t>
            </a:r>
            <a:endParaRPr sz="15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700"/>
              </a:spcAft>
            </a:pPr>
            <a:r>
              <a:rPr sz="124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按负载选 d：抽取为主 d=3~4，插入为主 d=8~16；</a:t>
            </a:r>
            <a:endParaRPr sz="13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700"/>
              </a:spcAft>
            </a:pPr>
            <a:r>
              <a:rPr sz="124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MAX-HEAPIFY 迭代化，省递归开销；</a:t>
            </a:r>
            <a:endParaRPr sz="13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700"/>
              </a:spcAft>
            </a:pPr>
            <a:r>
              <a:rPr sz="124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 顺序扫连续的 d 个孩子，提高缓存命中；④ -O2/-O3，大 d 用 SIMD。</a:t>
            </a:r>
            <a:endParaRPr sz="13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30200" indent="-330200">
              <a:lnSpc>
                <a:spcPct val="142000"/>
              </a:lnSpc>
              <a:spcAft>
                <a:spcPts val="700"/>
              </a:spcAft>
            </a:pPr>
            <a:r>
              <a:rPr sz="138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500" b="0" i="0">
                <a:solidFill>
                  <a:srgbClr val="53822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进阶（选读）：需双端取最值→Min-Max 堆；decrease-key 频繁→斐波那契堆；只要前 k 大→Top-K。</a:t>
            </a:r>
            <a:endParaRPr sz="1500" b="0" i="0">
              <a:solidFill>
                <a:srgbClr val="53822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0" y="1664208"/>
            <a:ext cx="4114800" cy="4846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marL="330200" indent="-330200">
              <a:lnSpc>
                <a:spcPct val="142000"/>
              </a:lnSpc>
              <a:spcAft>
                <a:spcPts val="700"/>
              </a:spcAft>
            </a:pPr>
            <a:r>
              <a:rPr sz="133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45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主线一句话（记住它，五问都能推）：</a:t>
            </a:r>
            <a:endParaRPr sz="1450" b="1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700"/>
              </a:spcAft>
            </a:pPr>
            <a:r>
              <a:rPr sz="119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叉堆 = 把二叉堆「每个孩子 2 个」改成「d 个」；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700"/>
              </a:spcAft>
            </a:pPr>
            <a:r>
              <a:rPr sz="119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存法 CHILD=d(i−1)+j+1，PARENT=⌊(i−2)/d⌋+1；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700"/>
              </a:spcAft>
            </a:pPr>
            <a:r>
              <a:rPr sz="119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高度 Θ(log_d n)；EXTRACT-MAX O(d log_d n)；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700"/>
              </a:spcAft>
            </a:pPr>
            <a:r>
              <a:rPr sz="119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INCREASE-KEY / INSERT O(log_d n)。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60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谢谢！</a:t>
            </a:r>
            <a:endParaRPr sz="260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约 10 秒 · B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10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2194560"/>
            <a:ext cx="10360152" cy="237744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34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谢谢老师和同学们！</a:t>
            </a:r>
            <a:endParaRPr sz="3400" b="1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（a）数组表示 ｜（b）h=Θ(log_d n) ｜（c）O(d log_d n) ｜（d）（e）O(log_d n)</a:t>
            </a:r>
            <a:endParaRPr sz="150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spcBef>
                <a:spcPts val="800"/>
              </a:spcBef>
            </a:pPr>
            <a:r>
              <a:rPr sz="140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 d：比较次数上 d=3 最划算，真实跑起来 d≈4~8 最快（要顾 CPU 缓存）</a:t>
            </a:r>
            <a:endParaRPr sz="140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3058</Words>
  <Application>WPS 演示</Application>
  <PresentationFormat>On-screen Show (4:3)</PresentationFormat>
  <Paragraphs>220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Arial</vt:lpstr>
      <vt:lpstr>Arial Black</vt:lpstr>
      <vt:lpstr>黑体</vt:lpstr>
      <vt:lpstr>Segoe UI Symbol</vt:lpstr>
      <vt:lpstr>Consolas</vt:lpstr>
      <vt:lpstr>Calibri</vt:lpstr>
      <vt:lpstr>微软雅黑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青春哥          凯CC</cp:lastModifiedBy>
  <cp:revision>2</cp:revision>
  <dcterms:created xsi:type="dcterms:W3CDTF">2013-01-27T09:14:00Z</dcterms:created>
  <dcterms:modified xsi:type="dcterms:W3CDTF">2026-10-11T14:41:53Z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AA82537DEF994469BB9266F5A1A2329F_12</vt:lpwstr>
  </property>
  <property fmtid="{D5CDD505-2E9C-101B-9397-08002B2CF9AE}" pid="3" name="KSOProductBuildVer">
    <vt:lpwstr>2052-12.1.0.28505</vt:lpwstr>
  </property>
</Properties>
</file>