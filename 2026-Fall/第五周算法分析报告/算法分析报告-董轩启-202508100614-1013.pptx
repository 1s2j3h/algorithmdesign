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大家好，今天我们来深入对比快速排序的两种经典分区实现：Hoare双向分区和Lomuto单向分区。我们会从代码实现、相同元素下的行为差异、以及Hoare分区的最坏情况和随机主元优化三个维度展开分析。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分为三个部分。第一部分我们先看两种分区策略的完整代码实现，各占一页。第二部分重点分析当数组中全部元素相同时，两种实现的运行行为有何不同。第三部分讨论Hoare分区的瓶颈——最坏情况为什么会发生，以及随机主元法如何解决这个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算法导论原版的Lomuto单向分区实现。主元固定选最右侧元素A[r]，i指针标记小于等于主元区域的右边界，j从左向右扫描，遇到小于等于主元的元素就交换到左边。划分完成后将主元放到分界位置，返回主元下标。递归时左段是[p, q-1]，右段是[q+1, r]，主元q本身不再参与递归。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用6个元素来手动走一遍Lomuto分区。主元选最右端的3。j从左向右扫描：遇到小于等于3的就交换到左边，i记录左段边界。最终主元3被放到正确位置q=2，左边是{2,1}，右边是{8,6,5}。注意Lomuto分区的特点是主元最终一定就位，所以递归时左段是[p,q-1]，右段是[q+1,r]，主元本身不再参与递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Lomuto分区的时间复杂度：最好和平均都是O(n log n)，但最坏是O(n平方)。最坏情况发生在已排序或逆序数组，因为主元固定取最右端，排序数组下主元永远是最值，每次只分出一个元素。特别要注意的是，在全相同元素场景下，因为用了小于等于比较，Lomuto也会退化到O(n平方)。空间复杂度方面，递归栈最好O(log n)，最坏O(n)。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Hoare双向分区实现，也是快速排序的原始版本。主元选最左侧元素A[p]，左右两个指针i和j同时向中间扫描：i向右找大于等于主元的元素，j向左找小于等于主元的元素，找到后交换。当i和j相遇或交叉时返回j作为分界点。注意递归时左段是[p, q]而不是[p, q-1]，因为Hoare分区不保证主元最终就位。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用6个元素手动走一遍Hoare分区。主元选最左端的8。左指针i向右找大于等于8的元素，右指针j向左找小于等于8的元素。第一轮：i立刻停在0（因为A[0]=8不小于8），j一路左移到5（A[5]=5不大于8），交换A[0]和A[5]。第二轮：i从1开始一路右移，4、7、1、3都小于8，直到i=5遇到8才停；j从5左移到4遇到3就停。此时i=5大于等于j=4，返回j=4作为分界。注意Hoare分区不保证主元最终就位，所以递归时左段是[p,q]而不是[p,q-1]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Hoare分区的时间复杂度：最好和平均都是O(n log n)，最坏也是O(n平方)，触发条件和Lomuto一样是已排序数组。但关键区别在于相同元素场景：Hoare因为用严格小于和严格大于比较，全相同元素时左右指针在中间相遇，划分天然均衡，保持O(n log n)，这比Lomuto优秀。另外Hoare分区平均交换次数比Lomuto少约3倍，实际运行更快。但Hoare的主元固定取最左端，已排序数组下依然会退化，这就是我们后面要讲的瓶颈和随机主元优化。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第二部分的核心结论。当数组中所有元素都相同时，Lomuto和Hoare的表现天差地别。Lomuto因为用小于等于比较，所有元素都满足条件，每次递归只分出一个元素，导致时间复杂度退化到O(n平方)。而Hoare因为用严格小于和严格大于比较，等于主元的元素会被两边指针交换，最终大致对半分，保持O(n log n)的复杂度。关键差异就在于比较条件中的等号位置。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oare分区虽然在相同元素场景下表现优秀，但它有一个致命瓶颈：主元固定取最左端。当输入数组已经排好序时，主元恰好是最小值，左指针立刻停在最左边，右指针一路左移到最左边才停下，每次划分结果都是0比n-1，递归树退化成一条链。总比较次数是n加n-1一直加到1，也就是O(n平方)。这就是快速排序最坏情况的典型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解决方案非常简单：在分区函数开头，随机从当前区间选一个元素，和最左端元素交换。这样不管输入数组是不是已排序，主元位置都是随机的，已排序输入不再是触发最坏情况的毒药。期望时间复杂度回到O(n log n)，最坏情况的概率是n的阶乘分之一，实际工程中完全可以忽略。如果想更稳妥，还可以用三数取中法，选首、中、尾三个位置的中位数作为主元。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177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快速排序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92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 vs Lomuto 分区 · 深度对比分析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3930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1016000" y="4191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 · 相同元素行为对比 · 最坏情况与随机主元优化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842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QuickSort · Partition Strategy · C++17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06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本次内容纲要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15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540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2286000" y="2540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2286000" y="29464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单向分区与 Hoare 双向分区的完整 C++ 实现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354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1016000" y="3810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286000" y="3810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相同元素场景对比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286000" y="42164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全相同元素数组下，两种分区策略的划分结果与递归深度差异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81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5080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286000" y="5080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瓶颈与优化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286000" y="54864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分区的最坏情况分析，以及随机主元法的解决方案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CODE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单向分区 · 算法导论原版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4445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1E293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270000" y="1930400"/>
            <a:ext cx="9652000" cy="412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算法导论原版 Lomuto PARTITION 单向划分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LomutoPartition(vector&lt;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x = A[r];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主元选最右侧元素 A[r]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i = p -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i：小于等于主元区域的右边界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j = p; j &lt;= r -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 j++)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(A[j] &lt;= x)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i++;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swap(A[i], A[j]);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swap(A[i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], A[r]);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将主元放到分界位置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i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返回主元所在下标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QuickSortLomuto(vector&lt;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(p &lt; r)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q = LomutoPartition(A, p, r);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QuickSortLomuto(A, p, q -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左段 [p, q-1]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QuickSortLomuto(A, q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 r);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右段 [q+1, r]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6350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特点：单向扫描 · 主元固定取最右端 · 划分后主元位置即最终有序位置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EXAMPLE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分区示例 · 6 元素手动推演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841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初始数组 · 主元 x = A[5] = 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16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714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13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2413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11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3111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10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3810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08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FCD34D">
              <a:alpha val="40000"/>
            </a:srgbClr>
          </a:solidFill>
          <a:ln w="254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4508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5334000" y="2349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A8A0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↑ 主元 pivot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16000" y="3048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扫描过程（j 从左到右，i 维护 &lt;= x 区域右边界）</a:t>
            </a:r>
            <a:endParaRPr lang="en-US" sz="110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016000" y="3429000"/>
          <a:ext cx="10160000" cy="2692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778000"/>
                <a:gridCol w="3556000"/>
                <a:gridCol w="38100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步骤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 指向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判断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数组状态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A[0]=6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 &gt; 3，不交换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 2 8 1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A[1]=2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78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 &lt;= 3，i++ 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6 8 1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A[2]=8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 &gt; 3，不交换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6 8 1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A[3]=1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78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&lt;= 3，i++ 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1 8 6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A[4]=5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 &gt; 3，不交换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1 8 6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结束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swap(A[2],A[5])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主元就位，返回 q=2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1 | 3 | 8 6 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AutoShape 21"/>
          <p:cNvSpPr txBox="1"/>
          <p:nvPr/>
        </p:nvSpPr>
        <p:spPr>
          <a:xfrm>
            <a:off x="1016000" y="6286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划分结果：左段 [0,1] = {2,1} ＜= 主元 3 ＜= 右段 [3,5] = {8,6,5}，主元 3 已就位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COMPLEXITY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分区的时间复杂度分析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9685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794000"/>
                <a:gridCol w="2794000"/>
                <a:gridCol w="2286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递归深度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最好情况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每次划分均分两半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随机输入，划分近似均衡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最坏情况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O(n^2)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已排序 / 逆序数组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相同元素场景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O(n^2)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全相同元素（&lt;= 比较导致）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4889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为什么已排序数组会触发最坏情况？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33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主元固定取最右端 A[r]。数组已升序时，主元恰好是最大值，所有元素都 &lt;= x，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一路增长到 r-1，每次递归只分出一个元素（主元本身），右段为空，递归树退化为链。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总比较次数 = n + (n-1) + ... + 1 = O(n^2)。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CODE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双向分区 · 原始快速排序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4191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1E293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270000" y="1930400"/>
            <a:ext cx="9652000" cy="393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HoarePartition(vector&lt;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x = A[p]; </a:t>
            </a: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主元选最左侧元素 A[p]</a:t>
            </a:r>
            <a:endParaRPr lang="en-US" sz="10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i = p - </a:t>
            </a:r>
            <a:r>
              <a:rPr lang="en-US" sz="10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j = r + </a:t>
            </a:r>
            <a:r>
              <a:rPr lang="en-US" sz="10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do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 i++; }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(A[i] &lt; x); </a:t>
            </a: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左指针右移找 ≥ x</a:t>
            </a:r>
            <a:endParaRPr lang="en-US" sz="10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do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 j--; }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(A[j] &gt; x); </a:t>
            </a: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右指针左移找 ≤ x</a:t>
            </a:r>
            <a:endParaRPr lang="en-US" sz="10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(i &gt;= j)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j;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swap(A[i], A[j]);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QuickSortHoare(vector&lt;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(p &lt; r)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q = HoarePartition(A, p, r);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QuickSortHoare(A, p, q); </a:t>
            </a: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注意：含 q，不是 q-1</a:t>
            </a:r>
            <a:endParaRPr lang="en-US" sz="10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QuickSortHoare(A, q+</a:t>
            </a:r>
            <a:r>
              <a:rPr lang="en-US" sz="10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 r);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6223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特点：双向指针 · 主元选最左端 · 划分后左段 ≤ 右段，主元不一定就位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EXAMPLE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分区示例 · 6 元素双向扫描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841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初始数组 · 主元 x = A[0] = 8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FCD34D">
              <a:alpha val="40000"/>
            </a:srgbClr>
          </a:solidFill>
          <a:ln w="254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16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714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13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2413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11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3111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10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3810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08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4508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5334000" y="2349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A8A0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↑ 主元 pivot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16000" y="3048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双向扫描过程（i 右移找 &gt;= x，j 左移找 &lt;= x）</a:t>
            </a:r>
            <a:endParaRPr lang="en-US" sz="110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016000" y="3429000"/>
          <a:ext cx="10160000" cy="215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1524000"/>
                <a:gridCol w="1524000"/>
                <a:gridCol w="3302000"/>
                <a:gridCol w="2540000"/>
              </a:tblGrid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轮次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 停在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 停在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数组状态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第 1 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i=0 (A[0]=8)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j=5 (A[5]=5)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 &lt; j，swap(A[0],A[5])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5 4 7 1 3 8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第 2 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i=5 (A[5]=8)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j=4 (A[4]=3)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 &gt;= j，返回 j=4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4 7 1 3 | 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AutoShape 21"/>
          <p:cNvSpPr txBox="1"/>
          <p:nvPr/>
        </p:nvSpPr>
        <p:spPr>
          <a:xfrm>
            <a:off x="1016000" y="5905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划分结果：返回 j=4，左段 [0,4] = {5,4,7,1,3}，右段 [5,5] = {8}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注意：Hoare 分区不保证主元就位！主元 8 虽然恰好在右端，但这是巧合，一般不成立。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COMPLEXITY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分区的时间复杂度分析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9685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794000"/>
                <a:gridCol w="2794000"/>
                <a:gridCol w="2286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递归深度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最好情况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每次划分均分两半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随机输入，划分近似均衡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最坏情况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O(n^2)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已排序 / 逆序数组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相同元素场景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全相同元素（严格 &lt; / &gt; 比较）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4889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vs Lomuto 的复杂度差异要点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33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用严格 &lt; 和 &gt; 比较，全相同元素时左右指针在中间相遇，划分天然均衡；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但主元固定取最左端，已排序输入下仍会退化到 O(n^2)——这就是下一部分要解决的瓶颈。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分区平均交换次数比 Lomuto 少约 3 倍，实际常数更小。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02 · BEHAVIOR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全相同元素下，两种分区的行为差异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9050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937000"/>
                <a:gridCol w="3937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Lomuto 单向分区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Hoare 双向分区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比较条件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A[j] &lt;= 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A[i] &lt; x 且 A[j] &gt; 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全相同时的划分结果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每次分出 n-1 : 0，极度不均衡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078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约 n/2 : n/2，基本均衡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递归深度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O(n^2)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482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核心原因：比较条件中的等号位置不同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270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用 &lt;= 比较，所有等于主元的元素都被划入左段，导致左段几乎包含全部元素；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用严格 &lt; 和严格 &gt; 比较，等于主元的元素会被两边指针"夹"在中间，自然形成近似对半划分。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0392B"/>
                </a:solidFill>
                <a:latin typeface="Roboto Mono"/>
                <a:ea typeface="Roboto Mono"/>
                <a:cs typeface="Roboto Mono"/>
                <a:sym typeface="Roboto Mono"/>
              </a:rPr>
              <a:t>PART 03 · BOTTLENECK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分区的瓶颈：已排序数组触发 O(n^2)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问题根源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3495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主元固定取最左端 </a:t>
            </a:r>
            <a:r>
              <a:rPr lang="en-US" sz="1300" b="0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A[p]</a:t>
            </a:r>
            <a:endParaRPr lang="en-US" sz="1100"/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数组已升序排列时，主元恰好是最小值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左指针 i 立刻停在 p（因为 A[p] 不小于 x）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右指针 j 一路左移，直到 p 才停下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 j = p，划分结果为 0 : n-1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每次递归只减少一个元素，递归树退化为链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6350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递归树退化示意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2413000"/>
            <a:ext cx="2032000" cy="406400"/>
          </a:xfrm>
          <a:prstGeom prst="roundRect">
            <a:avLst>
              <a:gd name="adj" fmla="val 0"/>
            </a:avLst>
          </a:prstGeom>
          <a:solidFill>
            <a:srgbClr val="DC3545">
              <a:alpha val="15000"/>
            </a:srgbClr>
          </a:solidFill>
          <a:ln w="12700" cap="flat" cmpd="sng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6604000" y="24130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[1, 2, 3, ..., n]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250626">
            <a:off x="7473950" y="2959238"/>
            <a:ext cx="292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35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604000" y="3111500"/>
            <a:ext cx="1778000" cy="355600"/>
          </a:xfrm>
          <a:prstGeom prst="roundRect">
            <a:avLst>
              <a:gd name="adj" fmla="val 0"/>
            </a:avLst>
          </a:prstGeom>
          <a:solidFill>
            <a:srgbClr val="DC3545">
              <a:alpha val="15000"/>
            </a:srgbClr>
          </a:solidFill>
          <a:ln w="12700" cap="flat" cmpd="sng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604000" y="3111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[2, 3, ..., n]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228255">
            <a:off x="7366000" y="35879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35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6604000" y="3721100"/>
            <a:ext cx="1524000" cy="355600"/>
          </a:xfrm>
          <a:prstGeom prst="roundRect">
            <a:avLst>
              <a:gd name="adj" fmla="val 0"/>
            </a:avLst>
          </a:prstGeom>
          <a:solidFill>
            <a:srgbClr val="DC3545">
              <a:alpha val="15000"/>
            </a:srgbClr>
          </a:solidFill>
          <a:ln w="12700" cap="flat" cmpd="sng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6604000" y="37211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[3, ..., n]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04000" y="4191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⋮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890000" y="2540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每层只处理 n-k 个元素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递归深度 = n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总比较次数 = n + (n-1) + ... + 1 = O(n^2)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1016000" y="558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结论：主元位置固定 = 已排序输入下的死穴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03 · SOLUTION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随机主元法：将最坏情况概率降至可忽略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修改思路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3495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在分区开始前，从 </a:t>
            </a:r>
            <a:r>
              <a:rPr lang="en-US" sz="1300" b="0" i="0" u="none" strike="noStrik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[p, r]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区间内随机选一个下标 k</a:t>
            </a:r>
            <a:endParaRPr lang="en-US" sz="1100"/>
          </a:p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</a:t>
            </a:r>
            <a:r>
              <a:rPr lang="en-US" sz="1300" b="0" i="0" u="none" strike="noStrik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A[k]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与 </a:t>
            </a:r>
            <a:r>
              <a:rPr lang="en-US" sz="1300" b="0" i="0" u="none" strike="noStrik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A[p]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交换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后续分区逻辑完全不变，主元仍是 </a:t>
            </a:r>
            <a:r>
              <a:rPr lang="en-US" sz="1300" b="0" i="0" u="none" strike="noStrik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A[p]</a:t>
            </a:r>
            <a:endParaRPr lang="en-US" sz="1300" b="0" i="0" u="none" strike="noStrike">
              <a:solidFill>
                <a:srgbClr val="47556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输入是否已排序不再影响主元选择的位置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8895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003087">
              <a:alpha val="6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270000" y="508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</a:t>
            </a:r>
            <a:r>
              <a:rPr lang="en-US" sz="1200" b="0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期望时间复杂度 O(n log n)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最坏情况概率为 1/n!，实际工程中可忽略</a:t>
            </a:r>
            <a:endParaRPr lang="en-US" sz="1200" b="0" i="0" u="none" strike="noStrike">
              <a:solidFill>
                <a:srgbClr val="0030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350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代码改动（仅分区函数开头）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349500"/>
            <a:ext cx="4826000" cy="2540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540500" y="2540000"/>
            <a:ext cx="4445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HoarePartition(vector&lt;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 {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新增：随机选主元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k = p + rand() % (r - p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swap(A[p], A[k]);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x = A[p];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i = p -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j = r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...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后续逻辑不变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3500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也可使用 </a:t>
            </a:r>
            <a:r>
              <a:rPr lang="en-US" sz="1200" b="0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median-of-three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（取首、中、尾三者中位数）替代纯随机，进一步降低偏斜概率。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374056" y="0"/>
            <a:ext cx="2819400" cy="7620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&lt;iostream&gt;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&lt;vector&gt;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&lt;algorithm&gt;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using namespace std;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算法导论原版 Hoare 划分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HoarePartition(vector&lt;int&gt;&amp; A, int p, int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x = A[p];        // 主元选最左边 A[p]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i = p - 1;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j = r + 1;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while (true)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do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i++;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} while (A[i] &lt; x);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do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j--;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} while (A[j] &gt; x);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if (i &gt;= j)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return j;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swap(A[i], A[j]);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Hoare 快排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void QuickSortHoare(vector&lt;int&gt;&amp; A, int p, int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if (p &lt;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int q = HoarePartition(A, p, r);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QuickSortHoare(A, p, q);      // 左区间包含 q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QuickSortHoare(A, q + 1, r);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6096000" y="0"/>
            <a:ext cx="2222500" cy="400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main()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vector&lt;int&gt; arr = {5, 3, 8, 4, 2};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"排序前：";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for (int num : arr)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cout &lt;&lt; num &lt;&lt; " 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endl;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QuickSortHoare(arr, 0, arr.size() - 1);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"排序后：";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for (int num : arr)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cout &lt;&lt; num &lt;&lt; " 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endl;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return 0;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6228715" y="45593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完整的</a:t>
            </a:r>
            <a:r>
              <a:rPr lang="en-US" altLang="zh-CN"/>
              <a:t>hoare</a:t>
            </a:r>
            <a:r>
              <a:rPr lang="zh-CN" altLang="en-US">
                <a:ea typeface="宋体" panose="02010600030101010101" pitchFamily="2" charset="-122"/>
              </a:rPr>
              <a:t>代码及测试样例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988293" y="85725"/>
            <a:ext cx="3276600" cy="6934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&lt;iostream&gt;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&lt;vector&gt;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&lt;algorithm&gt;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&lt;cstdlib&gt;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</a:t>
            </a:r>
            <a:r>
              <a:rPr lang="en-US" sz="78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ctime</a:t>
            </a: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using namespace std;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HoarePartition(vector&lt;int&gt;&amp; A, int p, int r)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x = A[p];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i = p - 1;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j = r + 1;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while (true)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do 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i++;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} while (A[i] &lt; x);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do 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j--;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} while (A[j] &gt; x);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if (i &gt;= j)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return j;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swap(A[i], A[j]);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随机Hoare划分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RandomHoarePartition(vector&lt;int&gt;&amp; A, int p, int r)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idx = rand() % (r - p + 1) + p;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swap(A[p], A[idx]);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return HoarePartition(A, p, r);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410200" y="85725"/>
            <a:ext cx="5181600" cy="514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void QuickSortRandomHoare(vector&lt;int&gt;&amp; A, int p, int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if (p &lt;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int q = RandomHoarePartition(A, p, r);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QuickSortRandomHoare(A, p, q);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QuickSortRandomHoare(A, q + 1, r);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main()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srand((unsigned int)time(NULL));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vector&lt;int&gt; arr = {1,2,3,4,5,6,7,8,9,10};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"排序前：";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for (int num : arr)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cout &lt;&lt; num &lt;&lt; " 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endl;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QuickSortRandomHoare(arr, 0, arr.size() - 1);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"排序后：";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for (int num : arr)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cout &lt;&lt; num &lt;&lt; " 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endl;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return 0;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/>
          </a:p>
        </p:txBody>
      </p:sp>
      <p:sp>
        <p:nvSpPr>
          <p:cNvPr id="4" name="文本框 3"/>
          <p:cNvSpPr txBox="1"/>
          <p:nvPr/>
        </p:nvSpPr>
        <p:spPr>
          <a:xfrm>
            <a:off x="5577205" y="565023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完整的随机主元后的</a:t>
            </a:r>
            <a:r>
              <a:rPr lang="en-US" altLang="zh-CN"/>
              <a:t>hoare</a:t>
            </a:r>
            <a:r>
              <a:rPr lang="zh-CN" altLang="en-US">
                <a:ea typeface="宋体" panose="02010600030101010101" pitchFamily="2" charset="-122"/>
              </a:rPr>
              <a:t>代码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5741</Words>
  <Application>WPS 演示</Application>
  <PresentationFormat/>
  <Paragraphs>432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MS PGothic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董书丽</cp:lastModifiedBy>
  <cp:revision>3</cp:revision>
  <dcterms:created xsi:type="dcterms:W3CDTF">2026-10-11T16:46:00Z</dcterms:created>
  <dcterms:modified xsi:type="dcterms:W3CDTF">2026-10-12T00:21:41Z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{"Label":"1","ContentProducer":"001191110102MACQD9K64010000","ProduceID":"7695451810978352109","ReservedCode1":"","ContentPropagator":"","PropagateID":"","ReservedCode2":""}</vt:lpwstr>
  </property>
  <property fmtid="{D5CDD505-2E9C-101B-9397-08002B2CF9AE}" pid="3" name="ICV">
    <vt:lpwstr>3A33F054BBF5426CACF7ADFB8B3B56A5_13</vt:lpwstr>
  </property>
  <property fmtid="{D5CDD505-2E9C-101B-9397-08002B2CF9AE}" pid="4" name="KSOProductBuildVer">
    <vt:lpwstr>2052-12.1.0.28505</vt:lpwstr>
  </property>
</Properties>
</file>